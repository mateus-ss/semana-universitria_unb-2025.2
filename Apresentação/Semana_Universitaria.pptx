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4" r:id="rId1"/>
    <p:sldMasterId id="2147483819" r:id="rId2"/>
    <p:sldMasterId id="2147483830" r:id="rId3"/>
    <p:sldMasterId id="2147483808" r:id="rId4"/>
    <p:sldMasterId id="2147483842" r:id="rId5"/>
  </p:sldMasterIdLst>
  <p:notesMasterIdLst>
    <p:notesMasterId r:id="rId24"/>
  </p:notesMasterIdLst>
  <p:sldIdLst>
    <p:sldId id="274" r:id="rId6"/>
    <p:sldId id="272" r:id="rId7"/>
    <p:sldId id="256" r:id="rId8"/>
    <p:sldId id="270" r:id="rId9"/>
    <p:sldId id="273" r:id="rId10"/>
    <p:sldId id="257" r:id="rId11"/>
    <p:sldId id="258" r:id="rId12"/>
    <p:sldId id="262" r:id="rId13"/>
    <p:sldId id="261" r:id="rId14"/>
    <p:sldId id="259" r:id="rId15"/>
    <p:sldId id="260" r:id="rId16"/>
    <p:sldId id="263" r:id="rId17"/>
    <p:sldId id="264" r:id="rId18"/>
    <p:sldId id="265" r:id="rId19"/>
    <p:sldId id="266" r:id="rId20"/>
    <p:sldId id="267" r:id="rId21"/>
    <p:sldId id="268" r:id="rId22"/>
    <p:sldId id="269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9"/>
    <p:restoredTop sz="86395"/>
  </p:normalViewPr>
  <p:slideViewPr>
    <p:cSldViewPr snapToGrid="0" snapToObjects="1">
      <p:cViewPr varScale="1">
        <p:scale>
          <a:sx n="77" d="100"/>
          <a:sy n="77" d="100"/>
        </p:scale>
        <p:origin x="149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69C277-18B4-3240-B8E0-4E3DFC451D39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EC0FD-BE50-5547-BFB5-D4B1B5721DC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85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EC0FD-BE50-5547-BFB5-D4B1B5721DC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71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Background pattern&#10;&#10;Description automatically generated">
            <a:extLst>
              <a:ext uri="{FF2B5EF4-FFF2-40B4-BE49-F238E27FC236}">
                <a16:creationId xmlns:a16="http://schemas.microsoft.com/office/drawing/2014/main" id="{28E50096-DD19-084B-B987-67EF688398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79B7C-F84D-0542-A1A9-8320954490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95" y="3033571"/>
            <a:ext cx="4350854" cy="82232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962F-B4C2-CD45-AD0D-E436EB2E7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95" y="3937000"/>
            <a:ext cx="4350854" cy="7265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50" b="0" i="1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</p:spTree>
    <p:extLst>
      <p:ext uri="{BB962C8B-B14F-4D97-AF65-F5344CB8AC3E}">
        <p14:creationId xmlns:p14="http://schemas.microsoft.com/office/powerpoint/2010/main" val="4094784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person, holding, person, person&#10;&#10;Description automatically generated">
            <a:extLst>
              <a:ext uri="{FF2B5EF4-FFF2-40B4-BE49-F238E27FC236}">
                <a16:creationId xmlns:a16="http://schemas.microsoft.com/office/drawing/2014/main" id="{80FA1342-6881-EE4A-9FC1-A8F94C92FD7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79B7C-F84D-0542-A1A9-8320954490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95" y="3033571"/>
            <a:ext cx="4350854" cy="82232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962F-B4C2-CD45-AD0D-E436EB2E7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95" y="3937000"/>
            <a:ext cx="4350854" cy="7265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50" b="0" i="1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</p:spTree>
    <p:extLst>
      <p:ext uri="{BB962C8B-B14F-4D97-AF65-F5344CB8AC3E}">
        <p14:creationId xmlns:p14="http://schemas.microsoft.com/office/powerpoint/2010/main" val="321006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8D1590BF-41E8-1A4A-BDC5-8F5679DBFE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79B7C-F84D-0542-A1A9-8320954490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95" y="3033571"/>
            <a:ext cx="4350854" cy="82232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962F-B4C2-CD45-AD0D-E436EB2E7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95" y="3937000"/>
            <a:ext cx="4350854" cy="7265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50" b="0" i="1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</p:spTree>
    <p:extLst>
      <p:ext uri="{BB962C8B-B14F-4D97-AF65-F5344CB8AC3E}">
        <p14:creationId xmlns:p14="http://schemas.microsoft.com/office/powerpoint/2010/main" val="3237509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ackground pattern&#10;&#10;Description automatically generated">
            <a:extLst>
              <a:ext uri="{FF2B5EF4-FFF2-40B4-BE49-F238E27FC236}">
                <a16:creationId xmlns:a16="http://schemas.microsoft.com/office/drawing/2014/main" id="{7839F558-C00F-1B47-83D8-BBC5D0C1AA1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9479B7C-F84D-0542-A1A9-8320954490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95" y="3033571"/>
            <a:ext cx="4350854" cy="82232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3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AB962F-B4C2-CD45-AD0D-E436EB2E776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95" y="3937000"/>
            <a:ext cx="4350854" cy="726588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50" b="0" i="1">
                <a:solidFill>
                  <a:schemeClr val="bg1"/>
                </a:solidFill>
              </a:defRPr>
            </a:lvl1pPr>
            <a:lvl2pPr marL="342875" indent="0" algn="ctr">
              <a:buNone/>
              <a:defRPr sz="1500"/>
            </a:lvl2pPr>
            <a:lvl3pPr marL="685749" indent="0" algn="ctr">
              <a:buNone/>
              <a:defRPr sz="1350"/>
            </a:lvl3pPr>
            <a:lvl4pPr marL="1028624" indent="0" algn="ctr">
              <a:buNone/>
              <a:defRPr sz="1200"/>
            </a:lvl4pPr>
            <a:lvl5pPr marL="1371498" indent="0" algn="ctr">
              <a:buNone/>
              <a:defRPr sz="1200"/>
            </a:lvl5pPr>
            <a:lvl6pPr marL="1714373" indent="0" algn="ctr">
              <a:buNone/>
              <a:defRPr sz="1200"/>
            </a:lvl6pPr>
            <a:lvl7pPr marL="2057246" indent="0" algn="ctr">
              <a:buNone/>
              <a:defRPr sz="1200"/>
            </a:lvl7pPr>
            <a:lvl8pPr marL="2400120" indent="0" algn="ctr">
              <a:buNone/>
              <a:defRPr sz="1200"/>
            </a:lvl8pPr>
            <a:lvl9pPr marL="2742995" indent="0" algn="ctr">
              <a:buNone/>
              <a:defRPr sz="1200"/>
            </a:lvl9pPr>
          </a:lstStyle>
          <a:p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</p:spTree>
    <p:extLst>
      <p:ext uri="{BB962C8B-B14F-4D97-AF65-F5344CB8AC3E}">
        <p14:creationId xmlns:p14="http://schemas.microsoft.com/office/powerpoint/2010/main" val="3304670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2415"/>
            <a:ext cx="7250430" cy="355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nis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249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Object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5" y="1634422"/>
            <a:ext cx="3669506" cy="3606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68F7106-1E4F-9648-B9B3-95626FD063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90691" y="1640474"/>
            <a:ext cx="3499403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90009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3045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996448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9185" y="1646241"/>
            <a:ext cx="725090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SzPct val="100000"/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SzPct val="60000"/>
              <a:buFont typeface="System Font Regular"/>
              <a:buChar char="-"/>
              <a:defRPr sz="1600"/>
            </a:lvl3pPr>
            <a:lvl4pPr marL="1200060" indent="-171438">
              <a:buClr>
                <a:schemeClr val="tx1"/>
              </a:buClr>
              <a:buSzPct val="60000"/>
              <a:buFont typeface="Arial"/>
              <a:buChar char="•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23789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311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1714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00595" y="1651505"/>
            <a:ext cx="358949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1807" y="1646238"/>
            <a:ext cx="3577828" cy="2631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6" y="4308475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077148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Op 2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807" y="1651511"/>
            <a:ext cx="3589496" cy="26258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6428" y="1646241"/>
            <a:ext cx="3577828" cy="3565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6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93279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 Col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A790081-EB7A-F14B-8933-3260D0B4D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12023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 marL="1242920" marR="0" indent="-214298" algn="l" defTabSz="68574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1"/>
              </a:buClr>
              <a:buSzPct val="60000"/>
              <a:buFont typeface="Arial"/>
              <a:buChar char="•"/>
              <a:tabLst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961224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Object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3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16144" y="1658919"/>
            <a:ext cx="3581400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3473148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Chart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7CAE2EC-BD76-CB42-97EC-DC1775647C0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22981" y="1651448"/>
            <a:ext cx="3567113" cy="36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Table</a:t>
            </a:r>
          </a:p>
        </p:txBody>
      </p:sp>
    </p:spTree>
    <p:extLst>
      <p:ext uri="{BB962C8B-B14F-4D97-AF65-F5344CB8AC3E}">
        <p14:creationId xmlns:p14="http://schemas.microsoft.com/office/powerpoint/2010/main" val="19736567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2 Objects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90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90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15635080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3 Objects – Lg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8"/>
            <a:ext cx="3623310" cy="18130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89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89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B5F7B13-E91F-F54F-A8D6-EC3071D0EA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58212" y="3478006"/>
            <a:ext cx="362331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48284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3" y="1632415"/>
            <a:ext cx="7250430" cy="355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01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Object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4422"/>
            <a:ext cx="3669506" cy="3606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68F7106-1E4F-9648-B9B3-95626FD063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90690" y="1640474"/>
            <a:ext cx="3499403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1215639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7" y="313045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7" y="996448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0718" y="1646241"/>
            <a:ext cx="725090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SzPct val="100000"/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SzPct val="60000"/>
              <a:buFont typeface="System Font Regular"/>
              <a:buChar char="-"/>
              <a:defRPr sz="1600"/>
            </a:lvl3pPr>
            <a:lvl4pPr marL="1200060" indent="-171438">
              <a:buClr>
                <a:schemeClr val="tx1"/>
              </a:buClr>
              <a:buSzPct val="60000"/>
              <a:buFont typeface="Arial"/>
              <a:buChar char="•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8832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1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4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00594" y="1651505"/>
            <a:ext cx="358949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1806" y="1646238"/>
            <a:ext cx="3577828" cy="2631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5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5387125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Op 2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808" y="1651511"/>
            <a:ext cx="3589496" cy="26258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6429" y="1646241"/>
            <a:ext cx="3577828" cy="3565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6" y="4308476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2391554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 Col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A790081-EB7A-F14B-8933-3260D0B4D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12023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 marL="1242920" marR="0" indent="-214298" algn="l" defTabSz="68574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1"/>
              </a:buClr>
              <a:buSzPct val="60000"/>
              <a:buFont typeface="Arial"/>
              <a:buChar char="•"/>
              <a:tabLst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1198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Object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6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6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080" y="1651503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7677" y="1658919"/>
            <a:ext cx="3581400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1877464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Chart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7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7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081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7CAE2EC-BD76-CB42-97EC-DC1775647C0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14514" y="1651448"/>
            <a:ext cx="3567113" cy="36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Table</a:t>
            </a:r>
          </a:p>
        </p:txBody>
      </p:sp>
    </p:spTree>
    <p:extLst>
      <p:ext uri="{BB962C8B-B14F-4D97-AF65-F5344CB8AC3E}">
        <p14:creationId xmlns:p14="http://schemas.microsoft.com/office/powerpoint/2010/main" val="38296575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2 Objects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90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90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6361300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3 Objects – Med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7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7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081" y="1651958"/>
            <a:ext cx="3623310" cy="18130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0223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0223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B5F7B13-E91F-F54F-A8D6-EC3071D0EA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9746" y="3478006"/>
            <a:ext cx="362331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35869061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3" y="1632415"/>
            <a:ext cx="7250430" cy="355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014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Object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4422"/>
            <a:ext cx="3669506" cy="3606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68F7106-1E4F-9648-B9B3-95626FD063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90690" y="1640474"/>
            <a:ext cx="3499403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12156391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3045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996448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9185" y="1646241"/>
            <a:ext cx="725090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SzPct val="100000"/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SzPct val="60000"/>
              <a:buFont typeface="System Font Regular"/>
              <a:buChar char="-"/>
              <a:defRPr sz="1600"/>
            </a:lvl3pPr>
            <a:lvl4pPr marL="1200060" indent="-171438">
              <a:buClr>
                <a:schemeClr val="tx1"/>
              </a:buClr>
              <a:buSzPct val="60000"/>
              <a:buFont typeface="Arial"/>
              <a:buChar char="•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8832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1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4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00594" y="1651505"/>
            <a:ext cx="358949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1806" y="1646238"/>
            <a:ext cx="3577828" cy="2631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5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53871251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Op 2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117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117" y="1001715"/>
            <a:ext cx="7250430" cy="32358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8741" y="1651511"/>
            <a:ext cx="3589496" cy="26258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23362" y="1646241"/>
            <a:ext cx="3577828" cy="3565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739" y="4308476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23915547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 Col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7650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0014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A790081-EB7A-F14B-8933-3260D0B4D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20490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 marL="1242920" marR="0" indent="-214298" algn="l" defTabSz="68574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1"/>
              </a:buClr>
              <a:buSzPct val="60000"/>
              <a:buFont typeface="Arial"/>
              <a:buChar char="•"/>
              <a:tabLst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11980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Object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3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16144" y="1658919"/>
            <a:ext cx="3581400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1877464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Chart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6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6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080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7CAE2EC-BD76-CB42-97EC-DC1775647C0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14513" y="1651448"/>
            <a:ext cx="3567113" cy="36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Table</a:t>
            </a:r>
          </a:p>
        </p:txBody>
      </p:sp>
    </p:spTree>
    <p:extLst>
      <p:ext uri="{BB962C8B-B14F-4D97-AF65-F5344CB8AC3E}">
        <p14:creationId xmlns:p14="http://schemas.microsoft.com/office/powerpoint/2010/main" val="38296575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2 Objects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90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90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63613007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3 Objects – S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8"/>
            <a:ext cx="3623310" cy="18130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89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89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B5F7B13-E91F-F54F-A8D6-EC3071D0EA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58212" y="3478006"/>
            <a:ext cx="362331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358690611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2415"/>
            <a:ext cx="7250430" cy="355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6014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Object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4422"/>
            <a:ext cx="3669506" cy="3606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68F7106-1E4F-9648-B9B3-95626FD063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90690" y="1640474"/>
            <a:ext cx="3499403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1215639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045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448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9184" y="1646241"/>
            <a:ext cx="725090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SzPct val="100000"/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SzPct val="60000"/>
              <a:buFont typeface="System Font Regular"/>
              <a:buChar char="-"/>
              <a:defRPr sz="1600"/>
            </a:lvl3pPr>
            <a:lvl4pPr marL="1200060" indent="-171438">
              <a:buClr>
                <a:schemeClr val="tx1"/>
              </a:buClr>
              <a:buSzPct val="60000"/>
              <a:buFont typeface="Arial"/>
              <a:buChar char="•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188320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7" y="318311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7" y="1001714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892128" y="1651505"/>
            <a:ext cx="358949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53340" y="1646238"/>
            <a:ext cx="3577828" cy="2631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3339" y="4308475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153871251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Op 2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807" y="1651511"/>
            <a:ext cx="3589496" cy="26258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6428" y="1646241"/>
            <a:ext cx="3577828" cy="3565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6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23915547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 Col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A790081-EB7A-F14B-8933-3260D0B4D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12024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 marL="1242920" marR="0" indent="-214298" algn="l" defTabSz="68574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1"/>
              </a:buClr>
              <a:buSzPct val="60000"/>
              <a:buFont typeface="Arial"/>
              <a:buChar char="•"/>
              <a:tabLst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119804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Object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3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16144" y="1658919"/>
            <a:ext cx="3581400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18774642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Chart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7CAE2EC-BD76-CB42-97EC-DC1775647C0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22980" y="1651448"/>
            <a:ext cx="3567113" cy="36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Table</a:t>
            </a:r>
          </a:p>
        </p:txBody>
      </p:sp>
    </p:spTree>
    <p:extLst>
      <p:ext uri="{BB962C8B-B14F-4D97-AF65-F5344CB8AC3E}">
        <p14:creationId xmlns:p14="http://schemas.microsoft.com/office/powerpoint/2010/main" val="38296575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2 Objects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89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89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6361300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3 Objects – 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8"/>
            <a:ext cx="3623310" cy="18130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89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89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B5F7B13-E91F-F54F-A8D6-EC3071D0EA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58212" y="3478006"/>
            <a:ext cx="362331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35869061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3" y="1632415"/>
            <a:ext cx="7250430" cy="355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994379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 w/Object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27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68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47B4507-71CB-394C-9EBE-4AC75581EB1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9184" y="1634422"/>
            <a:ext cx="3669506" cy="36068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smtClean="0">
                <a:effectLst/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r>
              <a:rPr lang="en-US" dirty="0" err="1">
                <a:effectLst/>
                <a:latin typeface="Calibri" panose="020F0502020204030204" pitchFamily="34" charset="0"/>
              </a:rPr>
              <a:t>Liquidesto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vellenia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aute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eum</a:t>
            </a:r>
            <a:r>
              <a:rPr lang="en-US" dirty="0">
                <a:effectLst/>
                <a:latin typeface="Calibri" panose="020F0502020204030204" pitchFamily="34" charset="0"/>
              </a:rPr>
              <a:t> que </a:t>
            </a:r>
            <a:r>
              <a:rPr lang="en-US" dirty="0" err="1">
                <a:effectLst/>
                <a:latin typeface="Calibri" panose="020F0502020204030204" pitchFamily="34" charset="0"/>
              </a:rPr>
              <a:t>nonse</a:t>
            </a:r>
            <a:r>
              <a:rPr lang="en-US" dirty="0">
                <a:effectLst/>
                <a:latin typeface="Calibri" panose="020F0502020204030204" pitchFamily="34" charset="0"/>
              </a:rPr>
              <a:t> et, </a:t>
            </a:r>
            <a:r>
              <a:rPr lang="en-US" dirty="0" err="1">
                <a:effectLst/>
                <a:latin typeface="Calibri" panose="020F0502020204030204" pitchFamily="34" charset="0"/>
              </a:rPr>
              <a:t>quamus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doluptate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pedignamet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reped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ut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faccusda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dio</a:t>
            </a:r>
            <a:r>
              <a:rPr lang="en-US" dirty="0">
                <a:effectLst/>
                <a:latin typeface="Calibri" panose="020F0502020204030204" pitchFamily="34" charset="0"/>
              </a:rPr>
              <a:t> od </a:t>
            </a:r>
            <a:r>
              <a:rPr lang="en-US" dirty="0" err="1">
                <a:effectLst/>
                <a:latin typeface="Calibri" panose="020F0502020204030204" pitchFamily="34" charset="0"/>
              </a:rPr>
              <a:t>etur</a:t>
            </a:r>
            <a:r>
              <a:rPr lang="en-US" dirty="0">
                <a:effectLst/>
                <a:latin typeface="Calibri" panose="020F0502020204030204" pitchFamily="34" charset="0"/>
              </a:rPr>
              <a:t>? </a:t>
            </a:r>
            <a:r>
              <a:rPr lang="en-US" dirty="0" err="1">
                <a:effectLst/>
                <a:latin typeface="Calibri" panose="020F0502020204030204" pitchFamily="34" charset="0"/>
              </a:rPr>
              <a:t>Quiderf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erferia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dolupitatem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asimi</a:t>
            </a:r>
            <a:r>
              <a:rPr lang="en-US" dirty="0">
                <a:effectLst/>
                <a:latin typeface="Calibri" panose="020F0502020204030204" pitchFamily="34" charset="0"/>
              </a:rPr>
              <a:t>. </a:t>
            </a:r>
            <a:r>
              <a:rPr lang="en-US" dirty="0" err="1">
                <a:effectLst/>
                <a:latin typeface="Calibri" panose="020F0502020204030204" pitchFamily="34" charset="0"/>
              </a:rPr>
              <a:t>Aximporro</a:t>
            </a:r>
            <a:r>
              <a:rPr lang="en-US" dirty="0">
                <a:effectLst/>
                <a:latin typeface="Calibri" panose="020F0502020204030204" pitchFamily="34" charset="0"/>
              </a:rPr>
              <a:t> con pe prate re </a:t>
            </a:r>
            <a:r>
              <a:rPr lang="en-US" dirty="0" err="1">
                <a:effectLst/>
                <a:latin typeface="Calibri" panose="020F0502020204030204" pitchFamily="34" charset="0"/>
              </a:rPr>
              <a:t>volupta</a:t>
            </a:r>
            <a:r>
              <a:rPr lang="en-US" dirty="0">
                <a:effectLst/>
                <a:latin typeface="Calibri" panose="020F0502020204030204" pitchFamily="34" charset="0"/>
              </a:rPr>
              <a:t> quo con </a:t>
            </a:r>
            <a:r>
              <a:rPr lang="en-US" dirty="0" err="1">
                <a:effectLst/>
                <a:latin typeface="Calibri" panose="020F0502020204030204" pitchFamily="34" charset="0"/>
              </a:rPr>
              <a:t>corendes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raerum</a:t>
            </a:r>
            <a:r>
              <a:rPr lang="en-US" dirty="0">
                <a:effectLst/>
                <a:latin typeface="Calibri" panose="020F0502020204030204" pitchFamily="34" charset="0"/>
              </a:rPr>
              <a:t> fugit, </a:t>
            </a:r>
            <a:r>
              <a:rPr lang="en-US" dirty="0" err="1">
                <a:effectLst/>
                <a:latin typeface="Calibri" panose="020F0502020204030204" pitchFamily="34" charset="0"/>
              </a:rPr>
              <a:t>consed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exeriae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scimagnamus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distrum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vendae</a:t>
            </a:r>
            <a:r>
              <a:rPr lang="en-US" dirty="0">
                <a:effectLst/>
                <a:latin typeface="Calibri" panose="020F0502020204030204" pitchFamily="34" charset="0"/>
              </a:rPr>
              <a:t> non et </a:t>
            </a:r>
            <a:r>
              <a:rPr lang="en-US" dirty="0" err="1">
                <a:effectLst/>
                <a:latin typeface="Calibri" panose="020F0502020204030204" pitchFamily="34" charset="0"/>
              </a:rPr>
              <a:t>dit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fuga</a:t>
            </a:r>
            <a:r>
              <a:rPr lang="en-US" dirty="0">
                <a:effectLst/>
                <a:latin typeface="Calibri" panose="020F0502020204030204" pitchFamily="34" charset="0"/>
              </a:rPr>
              <a:t>. Nobis </a:t>
            </a:r>
            <a:r>
              <a:rPr lang="en-US" dirty="0" err="1">
                <a:effectLst/>
                <a:latin typeface="Calibri" panose="020F0502020204030204" pitchFamily="34" charset="0"/>
              </a:rPr>
              <a:t>inullorem</a:t>
            </a:r>
            <a:r>
              <a:rPr lang="en-US" dirty="0">
                <a:effectLst/>
                <a:latin typeface="Calibri" panose="020F0502020204030204" pitchFamily="34" charset="0"/>
              </a:rPr>
              <a:t> re </a:t>
            </a:r>
            <a:r>
              <a:rPr lang="en-US" dirty="0" err="1">
                <a:effectLst/>
                <a:latin typeface="Calibri" panose="020F0502020204030204" pitchFamily="34" charset="0"/>
              </a:rPr>
              <a:t>enima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perum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facea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verumet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fugia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velectoria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nis</a:t>
            </a:r>
            <a:r>
              <a:rPr lang="en-US" dirty="0">
                <a:effectLst/>
                <a:latin typeface="Calibri" panose="020F0502020204030204" pitchFamily="34" charset="0"/>
              </a:rPr>
              <a:t> qui del </a:t>
            </a:r>
            <a:r>
              <a:rPr lang="en-US" dirty="0" err="1">
                <a:effectLst/>
                <a:latin typeface="Calibri" panose="020F0502020204030204" pitchFamily="34" charset="0"/>
              </a:rPr>
              <a:t>imi</a:t>
            </a:r>
            <a:r>
              <a:rPr lang="en-US" dirty="0">
                <a:effectLst/>
                <a:latin typeface="Calibri" panose="020F0502020204030204" pitchFamily="34" charset="0"/>
              </a:rPr>
              <a:t>, </a:t>
            </a:r>
            <a:r>
              <a:rPr lang="en-US" dirty="0" err="1">
                <a:effectLst/>
                <a:latin typeface="Calibri" panose="020F0502020204030204" pitchFamily="34" charset="0"/>
              </a:rPr>
              <a:t>si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omnis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sequis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delit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maio</a:t>
            </a:r>
            <a:r>
              <a:rPr lang="en-US" dirty="0">
                <a:effectLst/>
                <a:latin typeface="Calibri" panose="020F0502020204030204" pitchFamily="34" charset="0"/>
              </a:rPr>
              <a:t>. Et et </a:t>
            </a:r>
            <a:r>
              <a:rPr lang="en-US" dirty="0" err="1">
                <a:effectLst/>
                <a:latin typeface="Calibri" panose="020F0502020204030204" pitchFamily="34" charset="0"/>
              </a:rPr>
              <a:t>utatib</a:t>
            </a:r>
            <a:r>
              <a:rPr lang="en-US" dirty="0">
                <a:effectLst/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A68F7106-1E4F-9648-B9B3-95626FD06353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90690" y="1640474"/>
            <a:ext cx="3499403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1455711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3045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996448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39184" y="1646241"/>
            <a:ext cx="725090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SzPct val="100000"/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SzPct val="60000"/>
              <a:buFont typeface="System Font Regular"/>
              <a:buChar char="-"/>
              <a:defRPr sz="1600"/>
            </a:lvl3pPr>
            <a:lvl4pPr marL="1200060" indent="-171438">
              <a:buClr>
                <a:schemeClr val="tx1"/>
              </a:buClr>
              <a:buSzPct val="60000"/>
              <a:buFont typeface="Arial"/>
              <a:buChar char="•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2449387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1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4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900594" y="1651505"/>
            <a:ext cx="3589496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61806" y="1646238"/>
            <a:ext cx="3577828" cy="26311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5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3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29206776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Photo Op 2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807" y="1651511"/>
            <a:ext cx="3589496" cy="26258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A8F9D85B-8AA8-BA40-BCFA-B9A66FE5EDE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6428" y="1646241"/>
            <a:ext cx="3577828" cy="3565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Photo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6FCD366-558D-934B-AEB5-954C38046B3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61805" y="4308476"/>
            <a:ext cx="3589734" cy="9032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  <a:lvl2pPr marL="342875" indent="0">
              <a:buNone/>
              <a:defRPr sz="1350"/>
            </a:lvl2pPr>
            <a:lvl3pPr marL="685749" indent="0">
              <a:buNone/>
              <a:defRPr sz="1350"/>
            </a:lvl3pPr>
            <a:lvl4pPr marL="1028624" indent="0">
              <a:buNone/>
              <a:defRPr sz="1350"/>
            </a:lvl4pPr>
            <a:lvl5pPr marL="1371498" indent="0">
              <a:buNone/>
              <a:defRPr sz="1350"/>
            </a:lvl5pPr>
          </a:lstStyle>
          <a:p>
            <a:pPr lvl="0"/>
            <a:r>
              <a:rPr lang="en-US" dirty="0"/>
              <a:t>Insert descriptor text</a:t>
            </a:r>
          </a:p>
        </p:txBody>
      </p:sp>
    </p:spTree>
    <p:extLst>
      <p:ext uri="{BB962C8B-B14F-4D97-AF65-F5344CB8AC3E}">
        <p14:creationId xmlns:p14="http://schemas.microsoft.com/office/powerpoint/2010/main" val="38790064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2 Col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0A790081-EB7A-F14B-8933-3260D0B4D8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12023" y="1651505"/>
            <a:ext cx="3577590" cy="356552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 marL="1242920" marR="0" indent="-214298" algn="l" defTabSz="685749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1"/>
              </a:buClr>
              <a:buSzPct val="60000"/>
              <a:buFont typeface="Arial"/>
              <a:buChar char="•"/>
              <a:tabLst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224499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Object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4" y="318312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4" y="1001715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8" y="1651503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16145" y="1658919"/>
            <a:ext cx="3581400" cy="3606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32076375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Chart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B7CAE2EC-BD76-CB42-97EC-DC1775647C0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3922980" y="1651448"/>
            <a:ext cx="3567113" cy="3614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r>
              <a:rPr lang="en-US" dirty="0"/>
              <a:t>Insert Table</a:t>
            </a:r>
          </a:p>
        </p:txBody>
      </p:sp>
    </p:spTree>
    <p:extLst>
      <p:ext uri="{BB962C8B-B14F-4D97-AF65-F5344CB8AC3E}">
        <p14:creationId xmlns:p14="http://schemas.microsoft.com/office/powerpoint/2010/main" val="26558087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2 Objects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9183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9183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rgbClr val="949EA9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61547" y="1651955"/>
            <a:ext cx="3623310" cy="3614215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8689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8689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1093055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Slide w/ 3 Objects – Small Glo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6D833-BE35-554B-A473-4268997AB2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0717" y="318759"/>
            <a:ext cx="7250430" cy="5555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b="1">
                <a:solidFill>
                  <a:srgbClr val="00619B"/>
                </a:solidFill>
              </a:defRPr>
            </a:lvl1pPr>
          </a:lstStyle>
          <a:p>
            <a:r>
              <a:rPr lang="en-US" dirty="0"/>
              <a:t>Headline goes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5ADAFA8-1D60-AB4F-93EC-EC4914DDEB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717" y="1002162"/>
            <a:ext cx="7250430" cy="323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400" i="1">
                <a:solidFill>
                  <a:schemeClr val="accent2"/>
                </a:solidFill>
              </a:defRPr>
            </a:lvl1pPr>
            <a:lvl2pPr marL="342875" indent="0">
              <a:buNone/>
              <a:defRPr/>
            </a:lvl2pPr>
            <a:lvl3pPr marL="685749" indent="0">
              <a:buNone/>
              <a:defRPr/>
            </a:lvl3pPr>
            <a:lvl4pPr marL="1028624" indent="0">
              <a:buNone/>
              <a:defRPr/>
            </a:lvl4pPr>
            <a:lvl5pPr marL="1371498" indent="0">
              <a:buNone/>
              <a:defRPr/>
            </a:lvl5pPr>
          </a:lstStyle>
          <a:p>
            <a:pPr lvl="0"/>
            <a:r>
              <a:rPr lang="en-US" dirty="0" err="1"/>
              <a:t>Subheadline</a:t>
            </a:r>
            <a:r>
              <a:rPr lang="en-US" dirty="0"/>
              <a:t> goes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75060-D351-5C40-A4A3-AF906CE109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E71E0C-71A1-7541-B10A-4AB363131E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3081" y="1651958"/>
            <a:ext cx="3623310" cy="1813057"/>
          </a:xfrm>
          <a:prstGeom prst="rect">
            <a:avLst/>
          </a:prstGeom>
        </p:spPr>
        <p:txBody>
          <a:bodyPr>
            <a:normAutofit/>
          </a:bodyPr>
          <a:lstStyle>
            <a:lvl1pPr marL="171438" indent="-171438">
              <a:buClr>
                <a:schemeClr val="accent1"/>
              </a:buClr>
              <a:buSzPct val="60000"/>
              <a:buFont typeface=".Lucida Grande UI Regular"/>
              <a:buChar char="►"/>
              <a:defRPr sz="1800"/>
            </a:lvl1pPr>
            <a:lvl2pPr marL="514313" indent="-171438">
              <a:buClr>
                <a:schemeClr val="accent3"/>
              </a:buClr>
              <a:buFont typeface="Wingdings" pitchFamily="2" charset="2"/>
              <a:buChar char="§"/>
              <a:defRPr sz="1600"/>
            </a:lvl2pPr>
            <a:lvl3pPr marL="857186" indent="-171438">
              <a:buClr>
                <a:schemeClr val="accent2"/>
              </a:buClr>
              <a:buFont typeface="System Font Regular"/>
              <a:buChar char="-"/>
              <a:defRPr sz="1600"/>
            </a:lvl3pPr>
            <a:lvl4pPr>
              <a:buClr>
                <a:schemeClr val="tx1"/>
              </a:buClr>
              <a:buSzPct val="60000"/>
              <a:defRPr sz="1600" baseline="0"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F9ECB-B539-0F43-8DBF-A2E1FBA7B375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3900223" y="165936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D778E544-1633-CC45-ACD4-C26140CA777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900223" y="3478006"/>
            <a:ext cx="358140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4B5F7B13-E91F-F54F-A8D6-EC3071D0EA42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249746" y="3478006"/>
            <a:ext cx="3623310" cy="1805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50"/>
            </a:lvl1pPr>
          </a:lstStyle>
          <a:p>
            <a:pPr lvl="0"/>
            <a:r>
              <a:rPr lang="en-US" dirty="0"/>
              <a:t>Insert Object</a:t>
            </a:r>
          </a:p>
        </p:txBody>
      </p:sp>
    </p:spTree>
    <p:extLst>
      <p:ext uri="{BB962C8B-B14F-4D97-AF65-F5344CB8AC3E}">
        <p14:creationId xmlns:p14="http://schemas.microsoft.com/office/powerpoint/2010/main" val="25726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6.jp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image" Target="../media/image7.jpg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3" Type="http://schemas.openxmlformats.org/officeDocument/2006/relationships/slideLayout" Target="../slideLayouts/slideLayout37.xml"/><Relationship Id="rId7" Type="http://schemas.openxmlformats.org/officeDocument/2006/relationships/slideLayout" Target="../slideLayouts/slideLayout41.xml"/><Relationship Id="rId12" Type="http://schemas.openxmlformats.org/officeDocument/2006/relationships/image" Target="../media/image8.jpg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44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image" Target="../media/image9.jp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FFC5481D-63F9-B247-AFA6-6423D600B21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779817-A5AA-A74D-908C-C506102E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1998" y="6492875"/>
            <a:ext cx="6361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535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53" r:id="rId2"/>
    <p:sldLayoutId id="2147483854" r:id="rId3"/>
    <p:sldLayoutId id="2147483855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  <p:sldLayoutId id="2147483806" r:id="rId13"/>
    <p:sldLayoutId id="2147483807" r:id="rId14"/>
  </p:sldLayoutIdLst>
  <p:hf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C5C8AB6B-062E-5B4B-A54F-EBCBE417A5A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779817-A5AA-A74D-908C-C506102E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1998" y="6492875"/>
            <a:ext cx="6361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2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</p:sldLayoutIdLst>
  <p:hf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ACD29755-F11D-5442-991B-DE9398F407C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779817-A5AA-A74D-908C-C506102E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1998" y="6492875"/>
            <a:ext cx="6361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2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</p:sldLayoutIdLst>
  <p:hf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, line chart&#10;&#10;Description automatically generated">
            <a:extLst>
              <a:ext uri="{FF2B5EF4-FFF2-40B4-BE49-F238E27FC236}">
                <a16:creationId xmlns:a16="http://schemas.microsoft.com/office/drawing/2014/main" id="{C81891B4-9095-4D44-86B1-A6BCA8C6130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779817-A5AA-A74D-908C-C506102E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1998" y="6492875"/>
            <a:ext cx="6361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421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  <p:sldLayoutId id="2147483812" r:id="rId4"/>
    <p:sldLayoutId id="2147483813" r:id="rId5"/>
    <p:sldLayoutId id="2147483814" r:id="rId6"/>
    <p:sldLayoutId id="2147483815" r:id="rId7"/>
    <p:sldLayoutId id="2147483816" r:id="rId8"/>
    <p:sldLayoutId id="2147483817" r:id="rId9"/>
    <p:sldLayoutId id="2147483818" r:id="rId10"/>
  </p:sldLayoutIdLst>
  <p:hf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4C33D122-FD9D-594C-A0DD-C193E172E03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6C779817-A5AA-A74D-908C-C506102E25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-81998" y="6492875"/>
            <a:ext cx="6361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6978B4-287B-0541-9C5D-483DA783F6CF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55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</p:sldLayoutIdLst>
  <p:hf hdr="0" ftr="0" dt="0"/>
  <p:txStyles>
    <p:titleStyle>
      <a:lvl1pPr algn="l" defTabSz="685749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38" indent="-171438" algn="l" defTabSz="685749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1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186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060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2935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809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684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558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433" indent="-171438" algn="l" defTabSz="685749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7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49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24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498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373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246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120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2995" algn="l" defTabSz="685749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B69EF7-525D-4265-811F-BF28535E79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65D651-33E1-4EAC-8F86-E8FCBDA52C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EC783AE-4FD1-4E0C-AA49-F5ED224DD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5" y="1755000"/>
            <a:ext cx="9030490" cy="33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129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3B69EF7-525D-4265-811F-BF28535E79F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E965D651-33E1-4EAC-8F86-E8FCBDA52C3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B64D2C7A-1C07-475E-B62E-60B49AB95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08" y="91281"/>
            <a:ext cx="8900584" cy="667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244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24BF9-0242-8747-BB26-263A6FCFEA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Filtros QMF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E6E9E-180B-E04D-919D-31130DA62A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Fundamentos e Aplicações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4468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D6E959-2109-4601-BD46-B573935DFF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B1F93E9-7637-45D1-BFFD-1CED1011F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672"/>
            <a:ext cx="9144000" cy="44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243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0D6E959-2109-4601-BD46-B573935DFFE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B9BE162-3780-44FA-BAFB-DF12100DD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4672"/>
            <a:ext cx="9144000" cy="448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10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2B5389-17EC-4FBC-8141-9A8AF7EA2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Introdução aos Filtros QMF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9CEBB5F-C6FC-4455-9EA9-91976D23023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184" y="1043355"/>
            <a:ext cx="7250430" cy="4583722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b="1" dirty="0"/>
              <a:t>Definição:</a:t>
            </a:r>
            <a:br>
              <a:rPr lang="pt-BR" dirty="0"/>
            </a:br>
            <a:r>
              <a:rPr lang="pt-BR" dirty="0"/>
              <a:t>Filtros QMF (</a:t>
            </a:r>
            <a:r>
              <a:rPr lang="pt-BR" i="1" dirty="0" err="1"/>
              <a:t>Quadrature</a:t>
            </a:r>
            <a:r>
              <a:rPr lang="pt-BR" i="1" dirty="0"/>
              <a:t> </a:t>
            </a:r>
            <a:r>
              <a:rPr lang="pt-BR" i="1" dirty="0" err="1"/>
              <a:t>Mirror</a:t>
            </a:r>
            <a:r>
              <a:rPr lang="pt-BR" i="1" dirty="0"/>
              <a:t> </a:t>
            </a:r>
            <a:r>
              <a:rPr lang="pt-BR" i="1" dirty="0" err="1"/>
              <a:t>Filters</a:t>
            </a:r>
            <a:r>
              <a:rPr lang="pt-BR" dirty="0"/>
              <a:t>) são pares de filtros projetados para dividir um sinal em </a:t>
            </a:r>
            <a:r>
              <a:rPr lang="pt-BR" b="1" dirty="0" err="1"/>
              <a:t>sub-bandas</a:t>
            </a:r>
            <a:r>
              <a:rPr lang="pt-BR" b="1" dirty="0"/>
              <a:t> complementares</a:t>
            </a:r>
            <a:r>
              <a:rPr lang="pt-BR" dirty="0"/>
              <a:t> (tipicamente </a:t>
            </a:r>
            <a:r>
              <a:rPr lang="pt-BR" dirty="0" err="1"/>
              <a:t>passa-baixas</a:t>
            </a:r>
            <a:r>
              <a:rPr lang="pt-BR" dirty="0"/>
              <a:t> e </a:t>
            </a:r>
            <a:r>
              <a:rPr lang="pt-BR" dirty="0" err="1"/>
              <a:t>passa-altas</a:t>
            </a:r>
            <a:r>
              <a:rPr lang="pt-BR" dirty="0"/>
              <a:t>), mantendo a </a:t>
            </a:r>
            <a:r>
              <a:rPr lang="pt-BR" b="1" dirty="0"/>
              <a:t>reconstrução perfeita</a:t>
            </a:r>
            <a:r>
              <a:rPr lang="pt-BR" dirty="0"/>
              <a:t> do sinal original.</a:t>
            </a:r>
          </a:p>
          <a:p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Objetivo:</a:t>
            </a:r>
          </a:p>
          <a:p>
            <a:pPr marL="628625" lvl="1" indent="-285750">
              <a:buFont typeface="Arial" panose="020B0604020202020204" pitchFamily="34" charset="0"/>
              <a:buChar char="•"/>
            </a:pPr>
            <a:r>
              <a:rPr lang="pt-BR" dirty="0"/>
              <a:t>Separar o espectro de um sinal em bandas distintas.</a:t>
            </a:r>
          </a:p>
          <a:p>
            <a:pPr marL="628625" lvl="1" indent="-285750">
              <a:buFont typeface="Arial" panose="020B0604020202020204" pitchFamily="34" charset="0"/>
              <a:buChar char="•"/>
            </a:pPr>
            <a:r>
              <a:rPr lang="pt-BR" dirty="0"/>
              <a:t>Reduzir a redundância.</a:t>
            </a:r>
          </a:p>
          <a:p>
            <a:pPr marL="628625" lvl="1" indent="-285750">
              <a:buFont typeface="Arial" panose="020B0604020202020204" pitchFamily="34" charset="0"/>
              <a:buChar char="•"/>
            </a:pPr>
            <a:r>
              <a:rPr lang="pt-BR" dirty="0"/>
              <a:t>Facilitar a compressão ou análise de componentes espectrais.</a:t>
            </a:r>
          </a:p>
          <a:p>
            <a:pPr lvl="1"/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Objetivo:</a:t>
            </a:r>
            <a:br>
              <a:rPr lang="pt-BR" dirty="0"/>
            </a:br>
            <a:r>
              <a:rPr lang="pt-BR" dirty="0"/>
              <a:t>Desenvolvidos para aplicações em </a:t>
            </a:r>
            <a:r>
              <a:rPr lang="pt-BR" b="1" dirty="0"/>
              <a:t>bancos de filtros</a:t>
            </a:r>
            <a:r>
              <a:rPr lang="pt-BR" dirty="0"/>
              <a:t> e </a:t>
            </a:r>
            <a:r>
              <a:rPr lang="pt-BR" b="1" dirty="0"/>
              <a:t>análise </a:t>
            </a:r>
            <a:r>
              <a:rPr lang="pt-BR" b="1" dirty="0" err="1"/>
              <a:t>multirresolução</a:t>
            </a:r>
            <a:r>
              <a:rPr lang="pt-BR" dirty="0"/>
              <a:t> (como a transformada </a:t>
            </a:r>
            <a:r>
              <a:rPr lang="pt-BR" dirty="0" err="1"/>
              <a:t>wavelet</a:t>
            </a:r>
            <a:r>
              <a:rPr lang="pt-BR" dirty="0"/>
              <a:t>).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7C6F17-B3D3-48CF-A3D6-B1370E41D81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313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8FCD9-D153-44A0-A3C6-4BC3B17AF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2900" dirty="0"/>
              <a:t>Estrutura Básica de um Banco de Filtros QMF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741CA02-5DAA-45B9-82C3-A284EA4CB5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Diagrama conceitual: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29701D-8E0E-4608-9F40-FD5DA8A0B76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7</a:t>
            </a:fld>
            <a:endParaRPr lang="en-US" dirty="0"/>
          </a:p>
        </p:txBody>
      </p:sp>
      <p:pic>
        <p:nvPicPr>
          <p:cNvPr id="10" name="Espaço Reservado para Conteúdo 9">
            <a:extLst>
              <a:ext uri="{FF2B5EF4-FFF2-40B4-BE49-F238E27FC236}">
                <a16:creationId xmlns:a16="http://schemas.microsoft.com/office/drawing/2014/main" id="{D5117E83-1E7A-4C09-986D-7314A0962563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2075371" y="1507705"/>
            <a:ext cx="4993257" cy="1899327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523CD0AC-DE76-4C8D-A897-D40617C98ACA}"/>
                  </a:ext>
                </a:extLst>
              </p:cNvPr>
              <p:cNvSpPr>
                <a:spLocks noGrp="1" noChangeArrowheads="1"/>
              </p:cNvSpPr>
              <p:nvPr>
                <p:ph type="body" sz="quarter" idx="14"/>
              </p:nvPr>
            </p:nvSpPr>
            <p:spPr bwMode="auto">
              <a:xfrm>
                <a:off x="239184" y="3691493"/>
                <a:ext cx="5923609" cy="230832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H₀(z):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filtro </a:t>
                </a:r>
                <a:r>
                  <a:rPr kumimoji="0" lang="pt-BR" altLang="pt-B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passa-baixas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pt-BR" b="1" dirty="0"/>
                  <a:t> H₁(z):</a:t>
                </a:r>
                <a:r>
                  <a:rPr lang="pt-BR" dirty="0"/>
                  <a:t> </a:t>
                </a:r>
                <a:r>
                  <a:rPr lang="pt-BR" dirty="0">
                    <a:latin typeface="Arial" panose="020B0604020202020204" pitchFamily="34" charset="0"/>
                  </a:rPr>
                  <a:t>filtro </a:t>
                </a:r>
                <a:r>
                  <a:rPr lang="pt-BR" dirty="0" err="1">
                    <a:latin typeface="Arial" panose="020B0604020202020204" pitchFamily="34" charset="0"/>
                  </a:rPr>
                  <a:t>passa-altas</a:t>
                </a:r>
                <a:r>
                  <a:rPr lang="pt-BR" dirty="0">
                    <a:latin typeface="Arial" panose="020B0604020202020204" pitchFamily="34" charset="0"/>
                  </a:rPr>
                  <a:t>, espelhado de H₀(z).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pt-BR" dirty="0"/>
                  <a:t> O termo “espelho em quadratura” vem do fato de que: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lang="pt-BR" dirty="0"/>
                  <a:t>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(−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lang="pt-BR" dirty="0"/>
                  <a:t>   ou aproximadamente isso, dependendo da implementação.</a:t>
                </a:r>
              </a:p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pt-BR" dirty="0"/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G₀(z):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filtro de síntese </a:t>
                </a:r>
                <a:r>
                  <a:rPr kumimoji="0" lang="pt-BR" altLang="pt-BR" sz="1800" b="0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passa-baixas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lang="pt-BR" b="1" dirty="0"/>
                  <a:t> G₁(z):</a:t>
                </a:r>
                <a:r>
                  <a:rPr lang="pt-BR" dirty="0"/>
                  <a:t> 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filtro de síntese </a:t>
                </a:r>
                <a:r>
                  <a:rPr lang="pt-BR" dirty="0" err="1">
                    <a:latin typeface="Arial" panose="020B0604020202020204" pitchFamily="34" charset="0"/>
                  </a:rPr>
                  <a:t>passa-altas</a:t>
                </a:r>
                <a:endParaRPr lang="pt-BR" altLang="pt-BR" dirty="0"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6" name="Rectangle 7">
                <a:extLst>
                  <a:ext uri="{FF2B5EF4-FFF2-40B4-BE49-F238E27FC236}">
                    <a16:creationId xmlns:a16="http://schemas.microsoft.com/office/drawing/2014/main" id="{523CD0AC-DE76-4C8D-A897-D40617C98A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 bwMode="auto">
              <a:xfrm>
                <a:off x="239184" y="3691493"/>
                <a:ext cx="5923609" cy="2308324"/>
              </a:xfrm>
              <a:prstGeom prst="rect">
                <a:avLst/>
              </a:prstGeom>
              <a:blipFill>
                <a:blip r:embed="rId3"/>
                <a:stretch>
                  <a:fillRect l="-823" t="-1323" r="-206" b="-370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0827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0730FA1-2791-4E40-AC86-D40E6B52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Bloco </a:t>
            </a:r>
            <a:r>
              <a:rPr lang="pt-BR" dirty="0" err="1"/>
              <a:t>Subamostrador</a:t>
            </a:r>
            <a:r>
              <a:rPr lang="pt-BR" dirty="0"/>
              <a:t> (</a:t>
            </a:r>
            <a:r>
              <a:rPr lang="pt-BR" dirty="0" err="1"/>
              <a:t>Downsample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Texto 8">
                <a:extLst>
                  <a:ext uri="{FF2B5EF4-FFF2-40B4-BE49-F238E27FC236}">
                    <a16:creationId xmlns:a16="http://schemas.microsoft.com/office/drawing/2014/main" id="{6E4E7AD8-CF24-4D2C-AEEA-CC439529DE4E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239184" y="1046481"/>
                <a:ext cx="7250430" cy="4139362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Função:</a:t>
                </a:r>
                <a:br>
                  <a:rPr lang="pt-BR" dirty="0"/>
                </a:br>
                <a:r>
                  <a:rPr lang="pt-BR" dirty="0"/>
                  <a:t>Reduz a taxa de amostragem descartando amostras (mantendo uma a cada 2 amostras).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Operação matemática:</a:t>
                </a:r>
                <a:endParaRPr lang="pt-BR" dirty="0"/>
              </a:p>
              <a:p>
                <a:r>
                  <a:rPr lang="pt-BR" dirty="0"/>
                  <a:t>			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[2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pt-B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Efeito no espectro:</a:t>
                </a:r>
                <a:br>
                  <a:rPr lang="pt-BR" dirty="0"/>
                </a:br>
                <a:r>
                  <a:rPr lang="pt-BR" dirty="0"/>
                  <a:t>Ocorre </a:t>
                </a:r>
                <a:r>
                  <a:rPr lang="pt-BR" b="1" dirty="0" err="1"/>
                  <a:t>aliasing</a:t>
                </a:r>
                <a:r>
                  <a:rPr lang="pt-BR" b="1" dirty="0"/>
                  <a:t> </a:t>
                </a:r>
                <a:r>
                  <a:rPr lang="pt-BR" dirty="0"/>
                  <a:t>(sobreposição de espectros)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Aplicação no QMF:</a:t>
                </a:r>
                <a:br>
                  <a:rPr lang="pt-BR" dirty="0"/>
                </a:br>
                <a:r>
                  <a:rPr lang="pt-BR" dirty="0"/>
                  <a:t>Os filtros são projetados de modo que o </a:t>
                </a:r>
                <a:r>
                  <a:rPr lang="pt-BR" b="1" dirty="0" err="1"/>
                  <a:t>aliasing</a:t>
                </a:r>
                <a:r>
                  <a:rPr lang="pt-BR" b="1" dirty="0"/>
                  <a:t> gerado</a:t>
                </a:r>
                <a:r>
                  <a:rPr lang="pt-BR" dirty="0"/>
                  <a:t> na análise é </a:t>
                </a:r>
                <a:r>
                  <a:rPr lang="pt-BR" b="1" dirty="0"/>
                  <a:t>cancelado</a:t>
                </a:r>
                <a:r>
                  <a:rPr lang="pt-BR" dirty="0"/>
                  <a:t> na etapa de síntese – Condição  essencial para a </a:t>
                </a:r>
                <a:r>
                  <a:rPr lang="pt-BR" b="1" dirty="0"/>
                  <a:t>reconstrução perfeita.</a:t>
                </a:r>
                <a:endParaRPr lang="pt-BR" dirty="0"/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9" name="Espaço Reservado para Texto 8">
                <a:extLst>
                  <a:ext uri="{FF2B5EF4-FFF2-40B4-BE49-F238E27FC236}">
                    <a16:creationId xmlns:a16="http://schemas.microsoft.com/office/drawing/2014/main" id="{6E4E7AD8-CF24-4D2C-AEEA-CC439529D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239184" y="1046481"/>
                <a:ext cx="7250430" cy="4139362"/>
              </a:xfrm>
              <a:blipFill>
                <a:blip r:embed="rId2"/>
                <a:stretch>
                  <a:fillRect l="-672" t="-884" r="-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F1ED9F-94C8-442E-8A42-296FD1D56F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990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80730FA1-2791-4E40-AC86-D40E6B520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Bloco </a:t>
            </a:r>
            <a:r>
              <a:rPr lang="pt-BR" dirty="0" err="1"/>
              <a:t>Sobreamostrador</a:t>
            </a:r>
            <a:r>
              <a:rPr lang="pt-BR" dirty="0"/>
              <a:t> (</a:t>
            </a:r>
            <a:r>
              <a:rPr lang="pt-BR" dirty="0" err="1"/>
              <a:t>Upsample</a:t>
            </a:r>
            <a:r>
              <a:rPr lang="pt-BR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Espaço Reservado para Texto 8">
                <a:extLst>
                  <a:ext uri="{FF2B5EF4-FFF2-40B4-BE49-F238E27FC236}">
                    <a16:creationId xmlns:a16="http://schemas.microsoft.com/office/drawing/2014/main" id="{6E4E7AD8-CF24-4D2C-AEEA-CC439529DE4E}"/>
                  </a:ext>
                </a:extLst>
              </p:cNvPr>
              <p:cNvSpPr>
                <a:spLocks noGrp="1"/>
              </p:cNvSpPr>
              <p:nvPr>
                <p:ph type="body" sz="quarter" idx="14"/>
              </p:nvPr>
            </p:nvSpPr>
            <p:spPr>
              <a:xfrm>
                <a:off x="239184" y="1046481"/>
                <a:ext cx="7250430" cy="4139362"/>
              </a:xfrm>
            </p:spPr>
            <p:txBody>
              <a:bodyPr/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Função:</a:t>
                </a:r>
                <a:br>
                  <a:rPr lang="pt-BR" dirty="0"/>
                </a:br>
                <a:r>
                  <a:rPr lang="pt-BR" dirty="0"/>
                  <a:t>Aumenta a taxa de amostragem de um sinal inserindo zeros entre as amostras.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Operação matemática:</a:t>
                </a:r>
                <a:endParaRPr lang="pt-BR" dirty="0"/>
              </a:p>
              <a:p>
                <a:r>
                  <a:rPr lang="pt-BR" dirty="0"/>
                  <a:t>			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begChr m:val="["/>
                        <m:endChr m:val="]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pt-B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pt-B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f>
                              <m:fPr>
                                <m:ctrlP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𝑝𝑎𝑟</m:t>
                            </m:r>
                          </m:e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0, 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𝑠𝑒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 é </m:t>
                            </m:r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𝑖𝑚𝑝𝑎𝑟</m:t>
                            </m:r>
                          </m:e>
                        </m:eqArr>
                      </m:e>
                    </m:d>
                  </m:oMath>
                </a14:m>
                <a:endParaRPr lang="pt-BR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Efeito no espectro:</a:t>
                </a:r>
                <a:br>
                  <a:rPr lang="pt-BR" dirty="0"/>
                </a:br>
                <a:r>
                  <a:rPr lang="pt-BR" dirty="0"/>
                  <a:t>Ocorre </a:t>
                </a:r>
                <a:r>
                  <a:rPr lang="pt-BR" b="1" dirty="0"/>
                  <a:t>replicação espectral</a:t>
                </a:r>
                <a:r>
                  <a:rPr lang="pt-BR" dirty="0"/>
                  <a:t> (imagens espectrais), exigindo filtragem posterior para suavização.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pt-BR" b="1" dirty="0"/>
                  <a:t>Aplicação no QMF:</a:t>
                </a:r>
                <a:br>
                  <a:rPr lang="pt-BR" dirty="0"/>
                </a:br>
                <a:r>
                  <a:rPr lang="pt-BR" dirty="0"/>
                  <a:t>Durante a </a:t>
                </a:r>
                <a:r>
                  <a:rPr lang="pt-BR" b="1" dirty="0"/>
                  <a:t>reconstrução</a:t>
                </a:r>
                <a:r>
                  <a:rPr lang="pt-BR" dirty="0"/>
                  <a:t> do sinal, cada </a:t>
                </a:r>
                <a:r>
                  <a:rPr lang="pt-BR" dirty="0" err="1"/>
                  <a:t>sub-banda</a:t>
                </a:r>
                <a:r>
                  <a:rPr lang="pt-BR" dirty="0"/>
                  <a:t> é primeiro </a:t>
                </a:r>
                <a:r>
                  <a:rPr lang="pt-BR" b="1" dirty="0" err="1"/>
                  <a:t>upsampleada</a:t>
                </a:r>
                <a:r>
                  <a:rPr lang="pt-BR" dirty="0"/>
                  <a:t> e depois filtrada.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9" name="Espaço Reservado para Texto 8">
                <a:extLst>
                  <a:ext uri="{FF2B5EF4-FFF2-40B4-BE49-F238E27FC236}">
                    <a16:creationId xmlns:a16="http://schemas.microsoft.com/office/drawing/2014/main" id="{6E4E7AD8-CF24-4D2C-AEEA-CC439529DE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>
              <a:xfrm>
                <a:off x="239184" y="1046481"/>
                <a:ext cx="7250430" cy="4139362"/>
              </a:xfrm>
              <a:blipFill>
                <a:blip r:embed="rId2"/>
                <a:stretch>
                  <a:fillRect l="-672" t="-884" r="-126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BF1ED9F-94C8-442E-8A42-296FD1D56FD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7392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A3EDF8-6915-4E59-99C8-6E887ECA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Decomposição Multiaxial / Multivariável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DE41B2-13AA-4430-8A2C-AE98AB3D3B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6054" y="954794"/>
            <a:ext cx="6964255" cy="1794578"/>
          </a:xfrm>
        </p:spPr>
        <p:txBody>
          <a:bodyPr>
            <a:normAutofit lnSpcReduction="10000"/>
          </a:bodyPr>
          <a:lstStyle/>
          <a:p>
            <a:r>
              <a:rPr lang="pt-BR" b="1" dirty="0"/>
              <a:t>Decomposição Multiaxial (ou Multinível):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Processo iterativo de aplicar o banco de filtros </a:t>
            </a:r>
            <a:r>
              <a:rPr lang="pt-BR" b="1" dirty="0"/>
              <a:t>em cada </a:t>
            </a:r>
            <a:r>
              <a:rPr lang="pt-BR" b="1" dirty="0" err="1"/>
              <a:t>subbanda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Permite representar o sinal em </a:t>
            </a:r>
            <a:r>
              <a:rPr lang="pt-BR" b="1" dirty="0"/>
              <a:t>múltiplas resoluções</a:t>
            </a:r>
            <a:r>
              <a:rPr lang="pt-BR" dirty="0"/>
              <a:t> (frequências).</a:t>
            </a:r>
          </a:p>
          <a:p>
            <a:endParaRPr lang="pt-BR" dirty="0"/>
          </a:p>
          <a:p>
            <a:r>
              <a:rPr lang="pt-BR" dirty="0"/>
              <a:t>Exemplo (nível 2):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44BEEBB-75D9-4D8D-879B-CF65AA7027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10</a:t>
            </a:fld>
            <a:endParaRPr lang="en-US" dirty="0"/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5B71935-0AD4-4370-B67B-834F4C4AE7FF}"/>
              </a:ext>
            </a:extLst>
          </p:cNvPr>
          <p:cNvPicPr>
            <a:picLocks noGrp="1" noChangeAspect="1"/>
          </p:cNvPicPr>
          <p:nvPr>
            <p:ph sz="quarter" idx="17"/>
          </p:nvPr>
        </p:nvPicPr>
        <p:blipFill>
          <a:blip r:embed="rId2"/>
          <a:stretch>
            <a:fillRect/>
          </a:stretch>
        </p:blipFill>
        <p:spPr>
          <a:xfrm>
            <a:off x="889393" y="2820492"/>
            <a:ext cx="7365213" cy="2559657"/>
          </a:xfrm>
        </p:spPr>
      </p:pic>
    </p:spTree>
    <p:extLst>
      <p:ext uri="{BB962C8B-B14F-4D97-AF65-F5344CB8AC3E}">
        <p14:creationId xmlns:p14="http://schemas.microsoft.com/office/powerpoint/2010/main" val="1104506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>
            <a:extLst>
              <a:ext uri="{FF2B5EF4-FFF2-40B4-BE49-F238E27FC236}">
                <a16:creationId xmlns:a16="http://schemas.microsoft.com/office/drawing/2014/main" id="{D7251D9B-1C7D-4247-ACE7-368F07122B3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6785" y="1398735"/>
            <a:ext cx="7250430" cy="3553427"/>
          </a:xfrm>
        </p:spPr>
        <p:txBody>
          <a:bodyPr/>
          <a:lstStyle/>
          <a:p>
            <a:r>
              <a:rPr lang="pt-BR" b="1" dirty="0"/>
              <a:t>Decomposição Multivariável:</a:t>
            </a:r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Extensão para sinais com mais de uma dimensão (ex.: imagens 2D).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Aplica os filtros QMF nas </a:t>
            </a:r>
            <a:r>
              <a:rPr lang="pt-BR" b="1" dirty="0"/>
              <a:t>linhas e colunas</a:t>
            </a:r>
            <a:r>
              <a:rPr lang="pt-BR" dirty="0"/>
              <a:t> separadamente.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Forma as </a:t>
            </a:r>
            <a:r>
              <a:rPr lang="pt-BR" dirty="0" err="1"/>
              <a:t>sub-bandas</a:t>
            </a:r>
            <a:r>
              <a:rPr lang="pt-BR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LL (</a:t>
            </a:r>
            <a:r>
              <a:rPr lang="pt-BR" dirty="0" err="1"/>
              <a:t>baixa-baixa</a:t>
            </a:r>
            <a:r>
              <a:rPr lang="pt-B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LH (</a:t>
            </a:r>
            <a:r>
              <a:rPr lang="pt-BR" dirty="0" err="1"/>
              <a:t>baixa-alta</a:t>
            </a:r>
            <a:r>
              <a:rPr lang="pt-BR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HL (alta-baixa)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HH (alta-alta)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Usada em compressão de imagem (JPEG2000, por exemplo).</a:t>
            </a:r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35C28DA-D785-4CEB-ABE5-DDFE31BA5B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385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5CB187-3982-4369-A10C-102D588E6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Porque não deu certo?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65CC17D8-6154-4E85-927B-5D4D58C85EF1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pt-BR" dirty="0"/>
                  <a:t>Compensar o atraso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pt-BR" dirty="0"/>
                  <a:t>): </a:t>
                </a:r>
              </a:p>
            </p:txBody>
          </p:sp>
        </mc:Choice>
        <mc:Fallback xmlns="">
          <p:sp>
            <p:nvSpPr>
              <p:cNvPr id="3" name="Espaço Reservado para Texto 2">
                <a:extLst>
                  <a:ext uri="{FF2B5EF4-FFF2-40B4-BE49-F238E27FC236}">
                    <a16:creationId xmlns:a16="http://schemas.microsoft.com/office/drawing/2014/main" id="{65CC17D8-6154-4E85-927B-5D4D58C85E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blipFill>
                <a:blip r:embed="rId2"/>
                <a:stretch>
                  <a:fillRect l="-840" t="-31481" b="-3148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1E51E9A-F205-460A-AD26-A41DA8B3C5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D99C4B-6E7B-43A5-8420-54E323F7C7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4716439-3A7C-41BB-BCAE-A56BA1FC6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92" y="1400200"/>
            <a:ext cx="8904816" cy="4057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55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0225C4-B001-496B-9359-402CBC161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Bloco de Atraso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D6FE3A7-D322-4C61-8A80-7D7F6BAF498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244C7D5-1E6A-4F2A-B3AB-DB2CCB5F8278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239184" y="1700970"/>
            <a:ext cx="883126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Símbolo: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z⁻ᵏ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Função: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Introduz um </a:t>
            </a: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deslocamento temporal controlado</a:t>
            </a: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sinal.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Importância no QMF: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Compensar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diferenças de fase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</a:t>
            </a:r>
            <a:r>
              <a:rPr kumimoji="0" lang="pt-BR" altLang="pt-B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sub-bandas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Garantir </a:t>
            </a:r>
            <a:r>
              <a:rPr kumimoji="0" lang="pt-BR" altLang="pt-B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alinhamento temporal</a:t>
            </a:r>
            <a:r>
              <a:rPr kumimoji="0" lang="pt-BR" altLang="pt-B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entre as componentes na recomposição.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pt-BR" altLang="pt-B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Exemplo prático:</a:t>
            </a:r>
            <a:b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 H₀(z) e H₁(z) introduzem atrasos diferentes, um bloco z⁻ᵏ ajusta a defasagem na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etapa de síntese.</a:t>
            </a:r>
          </a:p>
        </p:txBody>
      </p:sp>
    </p:spTree>
    <p:extLst>
      <p:ext uri="{BB962C8B-B14F-4D97-AF65-F5344CB8AC3E}">
        <p14:creationId xmlns:p14="http://schemas.microsoft.com/office/powerpoint/2010/main" val="20497822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024F-5738-491F-A26B-C42E25889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Condição de Reconstrução Perfeita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151B15E-402F-47B2-ACF7-289AF58B71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B7755FD9-5A64-4821-8D96-277C814ACDF0}"/>
                  </a:ext>
                </a:extLst>
              </p:cNvPr>
              <p:cNvSpPr>
                <a:spLocks noGrp="1" noChangeArrowheads="1"/>
              </p:cNvSpPr>
              <p:nvPr>
                <p:ph type="body" sz="quarter" idx="14"/>
              </p:nvPr>
            </p:nvSpPr>
            <p:spPr bwMode="auto">
              <a:xfrm>
                <a:off x="239184" y="1560000"/>
                <a:ext cx="8420895" cy="369825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Para que o banco de filtros seja perfeitamente reconstruível:</a:t>
                </a:r>
              </a:p>
              <a:p>
                <a:pPr lvl="0"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pt-BR" altLang="pt-BR" dirty="0">
                    <a:latin typeface="Arial" panose="020B0604020202020204" pitchFamily="34" charset="0"/>
                  </a:rPr>
                  <a:t>e </a:t>
                </a: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0" lang="pt-BR" altLang="pt-BR" sz="1800" b="0" i="1" u="none" strike="noStrike" cap="none" normalizeH="0" baseline="0" smtClean="0">
                              <a:ln>
                                <a:noFill/>
                              </a:ln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sSub>
                        <m:sSub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t-BR" alt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alt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pt-BR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pt-BR" altLang="pt-B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onde: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H₀, H₁ → filtros de análise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G₀, G₁ → filtros de síntese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Isso garante que: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O sinal reconstruído seja </a:t>
                </a: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idêntico ao original</a:t>
                </a:r>
                <a:r>
                  <a:rPr kumimoji="0" lang="pt-BR" altLang="pt-BR" sz="1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, exceto por um atraso constante.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Char char="•"/>
                  <a:tabLst/>
                </a:pP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O </a:t>
                </a:r>
                <a:r>
                  <a:rPr kumimoji="0" lang="pt-BR" altLang="pt-BR" sz="1800" b="1" i="0" u="none" strike="noStrike" cap="none" normalizeH="0" baseline="0" dirty="0" err="1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aliasing</a:t>
                </a:r>
                <a:r>
                  <a:rPr kumimoji="0" lang="pt-BR" altLang="pt-BR" sz="18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rPr>
                  <a:t> é cancelado.</a:t>
                </a: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pt-BR" altLang="pt-BR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B7755FD9-5A64-4821-8D96-277C814ACD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4"/>
              </p:nvPr>
            </p:nvSpPr>
            <p:spPr bwMode="auto">
              <a:xfrm>
                <a:off x="239184" y="1560000"/>
                <a:ext cx="8420895" cy="3698257"/>
              </a:xfrm>
              <a:prstGeom prst="rect">
                <a:avLst/>
              </a:prstGeom>
              <a:blipFill>
                <a:blip r:embed="rId2"/>
                <a:stretch>
                  <a:fillRect l="-579" t="-494" r="-579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1171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308606-D686-4A69-80BC-B4B29EEA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Aplicações Práticas dos Filtros QMF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9DB12DF-04F2-43B2-BD53-48DFF99EEE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9184" y="868865"/>
            <a:ext cx="7250430" cy="4316978"/>
          </a:xfrm>
        </p:spPr>
        <p:txBody>
          <a:bodyPr>
            <a:normAutofit fontScale="85000" lnSpcReduction="20000"/>
          </a:bodyPr>
          <a:lstStyle/>
          <a:p>
            <a:r>
              <a:rPr lang="pt-BR" b="1" dirty="0"/>
              <a:t>🔹 1. Compressão de Áudio (</a:t>
            </a:r>
            <a:r>
              <a:rPr lang="pt-BR" b="1" dirty="0" err="1"/>
              <a:t>ex</a:t>
            </a:r>
            <a:r>
              <a:rPr lang="pt-BR" b="1" dirty="0"/>
              <a:t>: MP3)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Sinais de áudio são divididos em </a:t>
            </a:r>
            <a:r>
              <a:rPr lang="pt-BR" dirty="0" err="1"/>
              <a:t>sub-bandas</a:t>
            </a:r>
            <a:r>
              <a:rPr lang="pt-BR" dirty="0"/>
              <a:t> QMF.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Permite aplicar quantização diferenciada por banda (maior eficiência perceptual).</a:t>
            </a:r>
          </a:p>
          <a:p>
            <a:endParaRPr lang="pt-BR" dirty="0"/>
          </a:p>
          <a:p>
            <a:r>
              <a:rPr lang="pt-BR" b="1" dirty="0"/>
              <a:t>🔹 2. Compressão de Imagens (</a:t>
            </a:r>
            <a:r>
              <a:rPr lang="pt-BR" b="1" dirty="0" err="1"/>
              <a:t>ex</a:t>
            </a:r>
            <a:r>
              <a:rPr lang="pt-BR" b="1" dirty="0"/>
              <a:t>: JPEG2000)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O sinal 2D (imagem) é decomposto em LL, LH, HL, HH.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dirty="0" err="1"/>
              <a:t>Sub-bandas</a:t>
            </a:r>
            <a:r>
              <a:rPr lang="pt-BR" dirty="0"/>
              <a:t> de alta frequência podem ser quantizadas mais fortemente.</a:t>
            </a:r>
          </a:p>
          <a:p>
            <a:endParaRPr lang="pt-BR" dirty="0"/>
          </a:p>
          <a:p>
            <a:r>
              <a:rPr lang="pt-BR" b="1" dirty="0"/>
              <a:t>🔹 3. Processamento de Voz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QMF usado para </a:t>
            </a:r>
            <a:r>
              <a:rPr lang="pt-BR" b="1" dirty="0"/>
              <a:t>extrair características espectrais</a:t>
            </a:r>
            <a:r>
              <a:rPr lang="pt-BR" dirty="0"/>
              <a:t> e separar </a:t>
            </a:r>
            <a:r>
              <a:rPr lang="pt-BR" b="1" dirty="0"/>
              <a:t>faixas de formantes</a:t>
            </a:r>
            <a:r>
              <a:rPr lang="pt-B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Aplicações: </a:t>
            </a:r>
            <a:r>
              <a:rPr lang="pt-BR" b="1" dirty="0"/>
              <a:t>reconhecimento de locutor</a:t>
            </a:r>
            <a:r>
              <a:rPr lang="pt-BR" dirty="0"/>
              <a:t>, </a:t>
            </a:r>
            <a:r>
              <a:rPr lang="pt-BR" b="1" dirty="0"/>
              <a:t>análise de fala</a:t>
            </a:r>
            <a:r>
              <a:rPr lang="pt-BR" dirty="0"/>
              <a:t>, </a:t>
            </a:r>
            <a:r>
              <a:rPr lang="pt-BR" b="1" dirty="0"/>
              <a:t>codificadores de voz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b="1" dirty="0"/>
              <a:t>🔹 4. Comunicações Multicanal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Filtros QMF usados em </a:t>
            </a:r>
            <a:r>
              <a:rPr lang="pt-BR" b="1" dirty="0"/>
              <a:t>modulação por </a:t>
            </a:r>
            <a:r>
              <a:rPr lang="pt-BR" b="1" dirty="0" err="1"/>
              <a:t>sub-bandas</a:t>
            </a:r>
            <a:r>
              <a:rPr lang="pt-BR" dirty="0"/>
              <a:t> (FBMC, OFDM aprimorado).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Reduz interferência entre canais adjacentes.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B0CD56C3-BF27-4FE8-A50B-43CB2E5EF46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5105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8B6148-7B44-448E-B700-CD710BE29F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Exemplos: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478478-F5E3-466A-AD1B-932383BC03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pt-BR" sz="3200" dirty="0"/>
              <a:t>Decomposição de um Sinal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74142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590C2C-9A0B-43D8-83DC-D497FF3E7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Conclusões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FFD3B13-FA30-4E5E-B77E-5D7C55BC6C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</a:t>
            </a:r>
            <a:r>
              <a:rPr lang="pt-BR" dirty="0" err="1"/>
              <a:t>QMFs</a:t>
            </a:r>
            <a:r>
              <a:rPr lang="pt-BR" dirty="0"/>
              <a:t> são fundamentais em: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Processamento digital de sinais multibanda.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Transformadas </a:t>
            </a:r>
            <a:r>
              <a:rPr lang="pt-BR" dirty="0" err="1"/>
              <a:t>wavelet</a:t>
            </a:r>
            <a:r>
              <a:rPr lang="pt-BR" dirty="0"/>
              <a:t> e compressão de dados.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dirty="0"/>
              <a:t>Sistemas de telecomunicações eficientes.</a:t>
            </a:r>
          </a:p>
          <a:p>
            <a:pPr marL="457200" lvl="1"/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Integram blocos essenciais: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b="1" dirty="0" err="1"/>
              <a:t>Downsample</a:t>
            </a:r>
            <a:r>
              <a:rPr lang="pt-BR" dirty="0"/>
              <a:t>, </a:t>
            </a:r>
            <a:r>
              <a:rPr lang="pt-BR" b="1" dirty="0" err="1"/>
              <a:t>Upsample</a:t>
            </a:r>
            <a:r>
              <a:rPr lang="pt-BR" dirty="0"/>
              <a:t>, </a:t>
            </a:r>
            <a:r>
              <a:rPr lang="pt-BR" b="1" dirty="0"/>
              <a:t>Filtros passa-baixa/alta</a:t>
            </a:r>
            <a:r>
              <a:rPr lang="pt-BR" dirty="0"/>
              <a:t>, </a:t>
            </a:r>
            <a:r>
              <a:rPr lang="pt-BR" b="1" dirty="0"/>
              <a:t>Atraso</a:t>
            </a:r>
            <a:r>
              <a:rPr lang="pt-BR" dirty="0"/>
              <a:t>.</a:t>
            </a:r>
          </a:p>
          <a:p>
            <a:pPr marL="457200" lvl="1"/>
            <a:endParaRPr lang="pt-BR" dirty="0"/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 Base teórica sólida para aplicações práticas de </a:t>
            </a:r>
            <a:r>
              <a:rPr lang="pt-BR" b="1" dirty="0"/>
              <a:t>análise </a:t>
            </a:r>
            <a:r>
              <a:rPr lang="pt-BR" b="1" dirty="0" err="1"/>
              <a:t>multiresolução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F87674-6384-4E79-B5CF-BB6CDF3069F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16978B4-287B-0541-9C5D-483DA783F6CF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4495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4BEDDC-8FFE-45E0-A648-B5402F7260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Obrigado a todos!!!</a:t>
            </a:r>
          </a:p>
        </p:txBody>
      </p:sp>
    </p:spTree>
    <p:extLst>
      <p:ext uri="{BB962C8B-B14F-4D97-AF65-F5344CB8AC3E}">
        <p14:creationId xmlns:p14="http://schemas.microsoft.com/office/powerpoint/2010/main" val="4230741955"/>
      </p:ext>
    </p:extLst>
  </p:cSld>
  <p:clrMapOvr>
    <a:masterClrMapping/>
  </p:clrMapOvr>
</p:sld>
</file>

<file path=ppt/theme/theme1.xml><?xml version="1.0" encoding="utf-8"?>
<a:theme xmlns:a="http://schemas.openxmlformats.org/drawingml/2006/main" name="Large Graphic Set">
  <a:themeElements>
    <a:clrScheme name="IEEE SPS Pallette">
      <a:dk1>
        <a:srgbClr val="27374F"/>
      </a:dk1>
      <a:lt1>
        <a:srgbClr val="FFFFFF"/>
      </a:lt1>
      <a:dk2>
        <a:srgbClr val="58595B"/>
      </a:dk2>
      <a:lt2>
        <a:srgbClr val="EEECE1"/>
      </a:lt2>
      <a:accent1>
        <a:srgbClr val="78BE20"/>
      </a:accent1>
      <a:accent2>
        <a:srgbClr val="949EA9"/>
      </a:accent2>
      <a:accent3>
        <a:srgbClr val="00619B"/>
      </a:accent3>
      <a:accent4>
        <a:srgbClr val="EEA420"/>
      </a:accent4>
      <a:accent5>
        <a:srgbClr val="658D1B"/>
      </a:accent5>
      <a:accent6>
        <a:srgbClr val="981D97"/>
      </a:accent6>
      <a:hlink>
        <a:srgbClr val="00619B"/>
      </a:hlink>
      <a:folHlink>
        <a:srgbClr val="00B5E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edium Graphic Set">
  <a:themeElements>
    <a:clrScheme name="IEEE SPS Pallette">
      <a:dk1>
        <a:srgbClr val="27374F"/>
      </a:dk1>
      <a:lt1>
        <a:srgbClr val="FFFFFF"/>
      </a:lt1>
      <a:dk2>
        <a:srgbClr val="58595B"/>
      </a:dk2>
      <a:lt2>
        <a:srgbClr val="EEECE1"/>
      </a:lt2>
      <a:accent1>
        <a:srgbClr val="78BE20"/>
      </a:accent1>
      <a:accent2>
        <a:srgbClr val="949EA9"/>
      </a:accent2>
      <a:accent3>
        <a:srgbClr val="00619B"/>
      </a:accent3>
      <a:accent4>
        <a:srgbClr val="EEA420"/>
      </a:accent4>
      <a:accent5>
        <a:srgbClr val="658D1B"/>
      </a:accent5>
      <a:accent6>
        <a:srgbClr val="981D97"/>
      </a:accent6>
      <a:hlink>
        <a:srgbClr val="00619B"/>
      </a:hlink>
      <a:folHlink>
        <a:srgbClr val="00B5E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mall Graphic Set">
  <a:themeElements>
    <a:clrScheme name="IEEE SPS Pallette">
      <a:dk1>
        <a:srgbClr val="27374F"/>
      </a:dk1>
      <a:lt1>
        <a:srgbClr val="FFFFFF"/>
      </a:lt1>
      <a:dk2>
        <a:srgbClr val="58595B"/>
      </a:dk2>
      <a:lt2>
        <a:srgbClr val="EEECE1"/>
      </a:lt2>
      <a:accent1>
        <a:srgbClr val="78BE20"/>
      </a:accent1>
      <a:accent2>
        <a:srgbClr val="949EA9"/>
      </a:accent2>
      <a:accent3>
        <a:srgbClr val="00619B"/>
      </a:accent3>
      <a:accent4>
        <a:srgbClr val="EEA420"/>
      </a:accent4>
      <a:accent5>
        <a:srgbClr val="658D1B"/>
      </a:accent5>
      <a:accent6>
        <a:srgbClr val="981D97"/>
      </a:accent6>
      <a:hlink>
        <a:srgbClr val="00619B"/>
      </a:hlink>
      <a:folHlink>
        <a:srgbClr val="00B5E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No Graphic Set">
  <a:themeElements>
    <a:clrScheme name="IEEE SPS Pallette">
      <a:dk1>
        <a:srgbClr val="27374F"/>
      </a:dk1>
      <a:lt1>
        <a:srgbClr val="FFFFFF"/>
      </a:lt1>
      <a:dk2>
        <a:srgbClr val="58595B"/>
      </a:dk2>
      <a:lt2>
        <a:srgbClr val="EEECE1"/>
      </a:lt2>
      <a:accent1>
        <a:srgbClr val="78BE20"/>
      </a:accent1>
      <a:accent2>
        <a:srgbClr val="949EA9"/>
      </a:accent2>
      <a:accent3>
        <a:srgbClr val="00619B"/>
      </a:accent3>
      <a:accent4>
        <a:srgbClr val="EEA420"/>
      </a:accent4>
      <a:accent5>
        <a:srgbClr val="658D1B"/>
      </a:accent5>
      <a:accent6>
        <a:srgbClr val="981D97"/>
      </a:accent6>
      <a:hlink>
        <a:srgbClr val="00619B"/>
      </a:hlink>
      <a:folHlink>
        <a:srgbClr val="00B5E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mall_Globe_Set">
  <a:themeElements>
    <a:clrScheme name="IEEE SPS Pallette">
      <a:dk1>
        <a:srgbClr val="27374F"/>
      </a:dk1>
      <a:lt1>
        <a:srgbClr val="FFFFFF"/>
      </a:lt1>
      <a:dk2>
        <a:srgbClr val="58595B"/>
      </a:dk2>
      <a:lt2>
        <a:srgbClr val="EEECE1"/>
      </a:lt2>
      <a:accent1>
        <a:srgbClr val="78BE20"/>
      </a:accent1>
      <a:accent2>
        <a:srgbClr val="949EA9"/>
      </a:accent2>
      <a:accent3>
        <a:srgbClr val="00619B"/>
      </a:accent3>
      <a:accent4>
        <a:srgbClr val="EEA420"/>
      </a:accent4>
      <a:accent5>
        <a:srgbClr val="658D1B"/>
      </a:accent5>
      <a:accent6>
        <a:srgbClr val="981D97"/>
      </a:accent6>
      <a:hlink>
        <a:srgbClr val="00619B"/>
      </a:hlink>
      <a:folHlink>
        <a:srgbClr val="00B5E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811</Words>
  <Application>Microsoft Office PowerPoint</Application>
  <PresentationFormat>Apresentação na tela (4:3)</PresentationFormat>
  <Paragraphs>119</Paragraphs>
  <Slides>18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18</vt:i4>
      </vt:variant>
    </vt:vector>
  </HeadingPairs>
  <TitlesOfParts>
    <vt:vector size="29" baseType="lpstr">
      <vt:lpstr>.Lucida Grande UI Regular</vt:lpstr>
      <vt:lpstr>Arial</vt:lpstr>
      <vt:lpstr>Calibri</vt:lpstr>
      <vt:lpstr>Cambria Math</vt:lpstr>
      <vt:lpstr>System Font Regular</vt:lpstr>
      <vt:lpstr>Wingdings</vt:lpstr>
      <vt:lpstr>Large Graphic Set</vt:lpstr>
      <vt:lpstr>Medium Graphic Set</vt:lpstr>
      <vt:lpstr>Small Graphic Set</vt:lpstr>
      <vt:lpstr>No Graphic Set</vt:lpstr>
      <vt:lpstr>Small_Globe_Set</vt:lpstr>
      <vt:lpstr>Apresentação do PowerPoint</vt:lpstr>
      <vt:lpstr>Apresentação do PowerPoint</vt:lpstr>
      <vt:lpstr>Filtros QMF</vt:lpstr>
      <vt:lpstr>Apresentação do PowerPoint</vt:lpstr>
      <vt:lpstr>Apresentação do PowerPoint</vt:lpstr>
      <vt:lpstr>Introdução aos Filtros QMF</vt:lpstr>
      <vt:lpstr>Estrutura Básica de um Banco de Filtros QMF</vt:lpstr>
      <vt:lpstr>Bloco Subamostrador (Downsample)</vt:lpstr>
      <vt:lpstr>Bloco Sobreamostrador (Upsample)</vt:lpstr>
      <vt:lpstr>Decomposição Multiaxial / Multivariável</vt:lpstr>
      <vt:lpstr>Apresentação do PowerPoint</vt:lpstr>
      <vt:lpstr>Porque não deu certo?</vt:lpstr>
      <vt:lpstr>Bloco de Atraso</vt:lpstr>
      <vt:lpstr>Condição de Reconstrução Perfeita</vt:lpstr>
      <vt:lpstr>Aplicações Práticas dos Filtros QMF</vt:lpstr>
      <vt:lpstr>Exemplos:</vt:lpstr>
      <vt:lpstr>Conclusões</vt:lpstr>
      <vt:lpstr>Obrigado a todos!!!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Jamie Volansky</dc:creator>
  <cp:lastModifiedBy>Mateus Souza Santana</cp:lastModifiedBy>
  <cp:revision>70</cp:revision>
  <dcterms:created xsi:type="dcterms:W3CDTF">2019-05-10T13:33:52Z</dcterms:created>
  <dcterms:modified xsi:type="dcterms:W3CDTF">2025-10-29T02:22:38Z</dcterms:modified>
</cp:coreProperties>
</file>